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9"/>
  </p:notesMasterIdLst>
  <p:sldIdLst>
    <p:sldId id="256" r:id="rId2"/>
    <p:sldId id="257" r:id="rId3"/>
    <p:sldId id="259" r:id="rId4"/>
    <p:sldId id="258" r:id="rId5"/>
    <p:sldId id="261" r:id="rId6"/>
    <p:sldId id="260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725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336188-D461-41B7-AA0B-5B7806760503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188E33-EF6E-4C61-BA11-04695BB10A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9437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048000" y="3124200"/>
            <a:ext cx="82296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3048000" y="5003322"/>
            <a:ext cx="82296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10733828" y="1110597"/>
            <a:ext cx="2286000" cy="508000"/>
          </a:xfrm>
        </p:spPr>
        <p:txBody>
          <a:bodyPr/>
          <a:lstStyle/>
          <a:p>
            <a:fld id="{C120CA27-AD25-47B1-96CB-1FC621646C34}" type="datetime1">
              <a:rPr lang="en-US" smtClean="0"/>
              <a:t>1/14/2026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10045959" y="4117661"/>
            <a:ext cx="3657600" cy="512064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508000" y="0"/>
            <a:ext cx="8128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2" name="Rectangle 11"/>
          <p:cNvSpPr/>
          <p:nvPr/>
        </p:nvSpPr>
        <p:spPr bwMode="auto">
          <a:xfrm>
            <a:off x="368448" y="0"/>
            <a:ext cx="139552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4" name="Rectangle 13"/>
          <p:cNvSpPr/>
          <p:nvPr/>
        </p:nvSpPr>
        <p:spPr bwMode="auto">
          <a:xfrm>
            <a:off x="1320800" y="0"/>
            <a:ext cx="242496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9" name="Rectangle 18"/>
          <p:cNvSpPr/>
          <p:nvPr/>
        </p:nvSpPr>
        <p:spPr bwMode="auto">
          <a:xfrm>
            <a:off x="1521760" y="0"/>
            <a:ext cx="30704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4179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12192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1138816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2302187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422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12151808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27" name="Rectangle 26"/>
          <p:cNvSpPr/>
          <p:nvPr/>
        </p:nvSpPr>
        <p:spPr bwMode="auto">
          <a:xfrm>
            <a:off x="1625600" y="0"/>
            <a:ext cx="1016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21" name="Oval 20"/>
          <p:cNvSpPr/>
          <p:nvPr/>
        </p:nvSpPr>
        <p:spPr bwMode="auto">
          <a:xfrm>
            <a:off x="812800" y="3429000"/>
            <a:ext cx="17272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23" name="Oval 22"/>
          <p:cNvSpPr/>
          <p:nvPr/>
        </p:nvSpPr>
        <p:spPr bwMode="auto">
          <a:xfrm>
            <a:off x="1746176" y="4866752"/>
            <a:ext cx="855232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24" name="Oval 23"/>
          <p:cNvSpPr/>
          <p:nvPr/>
        </p:nvSpPr>
        <p:spPr bwMode="auto">
          <a:xfrm>
            <a:off x="1454773" y="5500632"/>
            <a:ext cx="18288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26" name="Oval 25"/>
          <p:cNvSpPr/>
          <p:nvPr/>
        </p:nvSpPr>
        <p:spPr bwMode="auto">
          <a:xfrm>
            <a:off x="2218944" y="5788152"/>
            <a:ext cx="36576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25" name="Oval 24"/>
          <p:cNvSpPr/>
          <p:nvPr/>
        </p:nvSpPr>
        <p:spPr>
          <a:xfrm>
            <a:off x="2540000" y="4495800"/>
            <a:ext cx="48768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767392" y="4928702"/>
            <a:ext cx="812800" cy="517524"/>
          </a:xfrm>
        </p:spPr>
        <p:txBody>
          <a:bodyPr/>
          <a:lstStyle/>
          <a:p>
            <a:fld id="{26E60A31-668D-4703-95EF-5FE78C86F3B8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9956800" cy="4873752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7BDB9492-ED84-4FCD-92A1-2C6F9ADC805E}" type="datetime1">
              <a:rPr lang="en-US" smtClean="0"/>
              <a:t>1/14/2026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26E60A31-668D-4703-95EF-5FE78C86F3B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0" y="2895600"/>
            <a:ext cx="82296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0" y="5010150"/>
            <a:ext cx="82296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10732008" y="1106932"/>
            <a:ext cx="2286000" cy="508000"/>
          </a:xfrm>
        </p:spPr>
        <p:txBody>
          <a:bodyPr/>
          <a:lstStyle/>
          <a:p>
            <a:fld id="{64ACA847-4020-4DB4-9C83-1806E34D2D12}" type="datetime1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10046208" y="4114800"/>
            <a:ext cx="3657600" cy="512064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 bwMode="auto">
          <a:xfrm>
            <a:off x="508000" y="0"/>
            <a:ext cx="8128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0" name="Rectangle 9"/>
          <p:cNvSpPr/>
          <p:nvPr/>
        </p:nvSpPr>
        <p:spPr bwMode="auto">
          <a:xfrm>
            <a:off x="368448" y="0"/>
            <a:ext cx="139552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1" name="Rectangle 10"/>
          <p:cNvSpPr/>
          <p:nvPr/>
        </p:nvSpPr>
        <p:spPr bwMode="auto">
          <a:xfrm>
            <a:off x="1320800" y="0"/>
            <a:ext cx="242496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2" name="Rectangle 11"/>
          <p:cNvSpPr/>
          <p:nvPr/>
        </p:nvSpPr>
        <p:spPr bwMode="auto">
          <a:xfrm>
            <a:off x="1521760" y="0"/>
            <a:ext cx="30704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4179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12192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138816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2302187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422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8" name="Rectangle 17"/>
          <p:cNvSpPr/>
          <p:nvPr/>
        </p:nvSpPr>
        <p:spPr bwMode="auto">
          <a:xfrm>
            <a:off x="1625600" y="0"/>
            <a:ext cx="1016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19" name="Oval 18"/>
          <p:cNvSpPr/>
          <p:nvPr/>
        </p:nvSpPr>
        <p:spPr bwMode="auto">
          <a:xfrm>
            <a:off x="812800" y="3429000"/>
            <a:ext cx="17272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20" name="Oval 19"/>
          <p:cNvSpPr/>
          <p:nvPr/>
        </p:nvSpPr>
        <p:spPr bwMode="auto">
          <a:xfrm>
            <a:off x="1766272" y="4866752"/>
            <a:ext cx="855232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21" name="Oval 20"/>
          <p:cNvSpPr/>
          <p:nvPr/>
        </p:nvSpPr>
        <p:spPr bwMode="auto">
          <a:xfrm>
            <a:off x="1454773" y="5500632"/>
            <a:ext cx="18288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22" name="Oval 21"/>
          <p:cNvSpPr/>
          <p:nvPr/>
        </p:nvSpPr>
        <p:spPr bwMode="auto">
          <a:xfrm>
            <a:off x="2218944" y="5791200"/>
            <a:ext cx="36576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23" name="Oval 22"/>
          <p:cNvSpPr/>
          <p:nvPr/>
        </p:nvSpPr>
        <p:spPr bwMode="auto">
          <a:xfrm>
            <a:off x="2505387" y="4479888"/>
            <a:ext cx="48768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12130592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787488" y="4928702"/>
            <a:ext cx="812800" cy="517524"/>
          </a:xfrm>
        </p:spPr>
        <p:txBody>
          <a:bodyPr/>
          <a:lstStyle/>
          <a:p>
            <a:fld id="{26E60A31-668D-4703-95EF-5FE78C86F3B8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D62FC-DF16-44F0-8CFF-45E59D1AEEDD}" type="datetime1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60A31-668D-4703-95EF-5FE78C86F3B8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48768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5693664" y="1600200"/>
            <a:ext cx="48768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100584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C85CB-0675-4CB2-A216-51EB322F497C}" type="datetime1">
              <a:rPr lang="en-US" smtClean="0"/>
              <a:t>1/14/2026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60A31-668D-4703-95EF-5FE78C86F3B8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362200"/>
            <a:ext cx="4876800" cy="38862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5829300" y="2362200"/>
            <a:ext cx="4876800" cy="38862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609600" y="1569720"/>
            <a:ext cx="48768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5791200" y="1569720"/>
            <a:ext cx="48768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963C0C93-D1A9-4A7A-9387-949C954A2C49}" type="datetime1">
              <a:rPr lang="en-US" smtClean="0"/>
              <a:t>1/14/2026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26E60A31-668D-4703-95EF-5FE78C86F3B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0AC7F-5EAC-48F0-9EF2-40521EFDC622}" type="datetime1">
              <a:rPr lang="en-US" smtClean="0"/>
              <a:t>1/14/2026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60A31-668D-4703-95EF-5FE78C86F3B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1684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5547360" y="3124200"/>
            <a:ext cx="6309360" cy="6096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083040" y="274320"/>
            <a:ext cx="2036064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83312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256395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19888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2" name="Rectangle 11"/>
          <p:cNvSpPr/>
          <p:nvPr/>
        </p:nvSpPr>
        <p:spPr bwMode="auto">
          <a:xfrm>
            <a:off x="11785600" y="0"/>
            <a:ext cx="4064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18872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4" name="Oval 13"/>
          <p:cNvSpPr/>
          <p:nvPr/>
        </p:nvSpPr>
        <p:spPr>
          <a:xfrm>
            <a:off x="10875264" y="5715000"/>
            <a:ext cx="73152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406400" y="274320"/>
            <a:ext cx="7518400" cy="6327648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89427D87-BCAC-42D2-AD10-25CFA3105FF5}" type="datetime1">
              <a:rPr lang="en-US" smtClean="0"/>
              <a:t>1/14/2026</a:t>
            </a:fld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26E60A31-668D-4703-95EF-5FE78C86F3B8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11684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3" name="Oval 12"/>
          <p:cNvSpPr/>
          <p:nvPr/>
        </p:nvSpPr>
        <p:spPr>
          <a:xfrm>
            <a:off x="10875264" y="5715000"/>
            <a:ext cx="73152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5518404" y="3124200"/>
            <a:ext cx="6309360" cy="6096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2296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021064" y="264795"/>
            <a:ext cx="2032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1988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1" name="Rectangle 10"/>
          <p:cNvSpPr/>
          <p:nvPr/>
        </p:nvSpPr>
        <p:spPr bwMode="auto">
          <a:xfrm>
            <a:off x="11785600" y="0"/>
            <a:ext cx="4064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118872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83312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256395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 dirty="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AC58CAA9-10BC-45A0-B54E-30697A0140CF}" type="datetime1">
              <a:rPr lang="en-US" smtClean="0"/>
              <a:t>1/14/2026</a:t>
            </a:fld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26E60A31-668D-4703-95EF-5FE78C86F3B8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37503-8861-4FFA-9FBD-167922AE780C}" type="datetime1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60A31-668D-4703-95EF-5FE78C86F3B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2352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A0BCE-9BD7-4355-ADF6-41CC14462DF3}" type="datetime1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60A31-668D-4703-95EF-5FE78C86F3B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1684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74638"/>
            <a:ext cx="99568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99568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10454640" y="1017843"/>
            <a:ext cx="2011680" cy="512064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7D8009DB-336F-4673-B7FB-C241DB48EC3F}" type="datetime1">
              <a:rPr lang="en-US" smtClean="0"/>
              <a:t>1/14/2026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9853648" y="3676280"/>
            <a:ext cx="3200400" cy="48768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1016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119888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0" name="Rectangle 9"/>
          <p:cNvSpPr/>
          <p:nvPr/>
        </p:nvSpPr>
        <p:spPr bwMode="auto">
          <a:xfrm>
            <a:off x="11785600" y="0"/>
            <a:ext cx="4064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18872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2" name="Oval 11"/>
          <p:cNvSpPr/>
          <p:nvPr/>
        </p:nvSpPr>
        <p:spPr>
          <a:xfrm>
            <a:off x="10875264" y="5715000"/>
            <a:ext cx="73152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0838688" y="5734050"/>
            <a:ext cx="8128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26E60A31-668D-4703-95EF-5FE78C86F3B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oursera.org/learn/is-it-governance/home/welcome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/>
              <a:t>Phát triển Hệ thống thông tin quản lý (MIS-Management Information System)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TS. Nguyễn Quang Hưng</a:t>
            </a:r>
          </a:p>
          <a:p>
            <a:r>
              <a:rPr lang="en-US"/>
              <a:t>nqhwng@gmail.com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F2A6C1-9FC7-C6C3-22D9-BCBAEED0C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60A31-668D-4703-95EF-5FE78C86F3B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8744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Nội dung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/>
              <a:t>Mục tiêu của môn học</a:t>
            </a:r>
          </a:p>
          <a:p>
            <a:r>
              <a:rPr lang="en-US"/>
              <a:t>Các nội dung chính</a:t>
            </a:r>
          </a:p>
          <a:p>
            <a:r>
              <a:rPr lang="en-US"/>
              <a:t>Yêu cầu/ đánh giá</a:t>
            </a:r>
          </a:p>
          <a:p>
            <a:r>
              <a:rPr lang="en-US"/>
              <a:t>Tài liệu tham khảo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B1E753-20F8-9FDD-AD71-F108FFCF1FB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26E60A31-668D-4703-95EF-5FE78C86F3B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1938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Mục tiêu môn học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/>
              <a:t>Giúp SV n</a:t>
            </a:r>
            <a:r>
              <a:rPr lang="vi-VN"/>
              <a:t>ắm được </a:t>
            </a:r>
            <a:r>
              <a:rPr lang="en-US"/>
              <a:t>kiến thức tổng quan, đặc thù </a:t>
            </a:r>
            <a:r>
              <a:rPr lang="vi-VN"/>
              <a:t>của các hệ thống thông tin quản lý; phân tích và thiết kế hệ thống thông tin quản lý.</a:t>
            </a:r>
            <a:endParaRPr lang="en-US"/>
          </a:p>
          <a:p>
            <a:r>
              <a:rPr lang="en-US"/>
              <a:t>Đặt đầu bài phát triển 1 hệ thống thông tin quản lý (Định hướng đồ án tốt nhiệp)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24C336-9947-1F39-67F0-85EC677E9CD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26E60A31-668D-4703-95EF-5FE78C86F3B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6379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Các nội dung chính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0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/>
              <a:t>Tổng quan về Hệ thống thông tin quản lý (MIS)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Hệ thống thông tin ra quyết định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Phần cứng máy tính cho hệ thống thông tin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Phần mềm cho hệ thống thông tin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Hệ thống thông tin dữ liệu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Công nghệ quản lý CSDL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Tính toán Client – Server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Hệ thống hỗ trợ ra quyết định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Hệ thống thông tin văn phòng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Hệ thống thông tin trong doanh nghiệp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Phân tích và thiết kế hệ thống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Hệ thống thông tin quản lý chiến lược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Quản lý tài nguyên thông tin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Quy hoạch nguồn lực doanh nghiệp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Quản lý chuỗi cung ứng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Ứng dụng CNTT trong doanh nghiệp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6BA7E5-494D-EA26-0DA9-F03A11BB717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26E60A31-668D-4703-95EF-5FE78C86F3B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4564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Yêu cầu/ đánh giá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/>
              <a:t>Chuyên cần: 10%</a:t>
            </a:r>
          </a:p>
          <a:p>
            <a:r>
              <a:rPr lang="en-US"/>
              <a:t>BT nhóm: 30%, chia 16 tổ (&lt;= 3 bạn) tương ứng với 16 chương.</a:t>
            </a:r>
          </a:p>
          <a:p>
            <a:pPr lvl="1"/>
            <a:r>
              <a:rPr lang="en-US"/>
              <a:t>ND: báo cáo thuyết trình chương + tài liệu tham khảo chính. (bổ sung, làm giàu nếu đã có môn học riêng hoặc tài liệu khác)</a:t>
            </a:r>
          </a:p>
          <a:p>
            <a:pPr lvl="1"/>
            <a:r>
              <a:rPr lang="en-US"/>
              <a:t>T</a:t>
            </a:r>
            <a:r>
              <a:rPr lang="vi-VN"/>
              <a:t>hời gian </a:t>
            </a:r>
            <a:r>
              <a:rPr lang="en-US"/>
              <a:t>báo cáo</a:t>
            </a:r>
            <a:r>
              <a:rPr lang="vi-VN"/>
              <a:t>:</a:t>
            </a:r>
          </a:p>
          <a:p>
            <a:pPr marL="640080" lvl="2" indent="0">
              <a:buNone/>
            </a:pPr>
            <a:r>
              <a:rPr lang="vi-VN"/>
              <a:t>- </a:t>
            </a:r>
            <a:r>
              <a:rPr lang="en-US"/>
              <a:t>Theo thứ tự Chương</a:t>
            </a:r>
            <a:endParaRPr lang="vi-VN"/>
          </a:p>
          <a:p>
            <a:pPr marL="365760" lvl="1" indent="0">
              <a:buNone/>
            </a:pPr>
            <a:r>
              <a:rPr lang="en-US"/>
              <a:t>C</a:t>
            </a:r>
            <a:r>
              <a:rPr lang="vi-VN"/>
              <a:t>huẩn bị báo cáo trình bày trên lớp, sau khi thầy bổ sung thì sửa báo cáo và nộp lại để chấm điểm.</a:t>
            </a:r>
          </a:p>
          <a:p>
            <a:r>
              <a:rPr lang="en-US"/>
              <a:t>Thi: Bài tập lớn (định hướng đồ án tốt nghiệp) 60%</a:t>
            </a:r>
          </a:p>
          <a:p>
            <a:pPr lvl="1"/>
            <a:r>
              <a:rPr lang="en-US"/>
              <a:t>Ứng dụng AI cho quản lý…</a:t>
            </a:r>
          </a:p>
          <a:p>
            <a:pPr lvl="1"/>
            <a:r>
              <a:rPr lang="en-US"/>
              <a:t>Doanh nghiệp 1 người</a:t>
            </a:r>
          </a:p>
          <a:p>
            <a:r>
              <a:rPr lang="en-US"/>
              <a:t>Điểm thưởng:</a:t>
            </a:r>
          </a:p>
          <a:p>
            <a:pPr lvl="1"/>
            <a:r>
              <a:rPr lang="en-US"/>
              <a:t>Chứng chỉ Coursera</a:t>
            </a:r>
          </a:p>
          <a:p>
            <a:pPr lvl="1"/>
            <a:r>
              <a:rPr lang="en-US"/>
              <a:t>Nhóm có báo cáo công nghệ - ứng dụng AI cho 1 việc cụ thể:  văn phòng, quản lý dự án, tóm tắt tài liệu, dịch thuật, âm thanh, hình ảnh, video, marketing, chăm sóc khách hàng,…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36F3BC-14F8-CD23-7946-87EFA92026D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26E60A31-668D-4703-95EF-5FE78C86F3B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1391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Tài liệu tham khảo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/>
              <a:t>Management Information System, </a:t>
            </a:r>
            <a:r>
              <a:rPr lang="en-US" b="1"/>
              <a:t>5th Semester, Computer Science Engineering</a:t>
            </a:r>
            <a:r>
              <a:rPr lang="en-US"/>
              <a:t>, Odisha (2 nhóm chọn 2 chương)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Management Information System, Managing Digital Firm, </a:t>
            </a:r>
            <a:r>
              <a:rPr lang="en-US" b="1"/>
              <a:t>Kenneth C. Laudon &amp; Jane P. Laudon </a:t>
            </a:r>
            <a:r>
              <a:rPr lang="en-US"/>
              <a:t>17th Edition, 2021. (15 Chương, mỗi nhóm 1 chương)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Coursera: </a:t>
            </a:r>
            <a:r>
              <a:rPr lang="en-US" b="1">
                <a:hlinkClick r:id="rId2"/>
              </a:rPr>
              <a:t>IS/IT Governance</a:t>
            </a:r>
          </a:p>
          <a:p>
            <a:pPr marL="0" indent="0">
              <a:buNone/>
            </a:pPr>
            <a:endParaRPr lang="en-US"/>
          </a:p>
          <a:p>
            <a:pPr marL="514350" indent="-514350">
              <a:buFont typeface="+mj-lt"/>
              <a:buAutoNum type="arabicPeriod"/>
            </a:pPr>
            <a:endParaRPr lang="en-US"/>
          </a:p>
          <a:p>
            <a:pPr marL="0" indent="0">
              <a:buNone/>
            </a:pPr>
            <a:br>
              <a:rPr lang="en-US"/>
            </a:b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89D6CE-17EC-040F-58AA-0534202F60E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26E60A31-668D-4703-95EF-5FE78C86F3B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8309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7D97B-A669-B200-80AC-0CE345732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 eaLnBrk="0" fontAlgn="base" hangingPunct="0">
              <a:spcAft>
                <a:spcPct val="0"/>
              </a:spcAft>
            </a:pPr>
            <a:r>
              <a:rPr lang="en-US" altLang="en-US" sz="3200" b="1" cap="none">
                <a:solidFill>
                  <a:schemeClr val="tx1"/>
                </a:solidFill>
                <a:latin typeface="Arial" panose="020B0604020202020204" pitchFamily="34" charset="0"/>
              </a:rPr>
              <a:t>Management Information Systems: Managing the Digital Firm</a:t>
            </a:r>
            <a:br>
              <a:rPr lang="en-US" altLang="en-US" sz="3200" b="1" cap="none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en-US" altLang="en-US" sz="1600" b="1" cap="none">
                <a:solidFill>
                  <a:schemeClr val="tx1"/>
                </a:solidFill>
                <a:latin typeface="Arial" panose="020B0604020202020204" pitchFamily="34" charset="0"/>
              </a:rPr>
              <a:t>Kenneth C. Laudon &amp; Jane P. Laudon – 17th Edition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4E1F58-1708-670B-9F7F-2977ADFDF10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26E60A31-668D-4703-95EF-5FE78C86F3B8}" type="slidenum">
              <a:rPr lang="en-US" smtClean="0"/>
              <a:t>7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94101EF7-16A9-4475-6F33-6DF863EA8F6F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 bwMode="auto">
          <a:xfrm>
            <a:off x="609600" y="2190416"/>
            <a:ext cx="10668305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✔️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Bao phủ đầy đủ lõi MIS cổ điển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→ TPS, MIS, DSS, ESS, SDLC, ERP, SCM… tương thích gần như 1–1 với cấu trúc giáo trình hiện tại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✔️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Cập nhật mạnh các chủ đề hiện đại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Digital transformation &amp; digital business models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Cloud computing, platform economy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analytics, big data, AI trong hỗ trợ quyết định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Cybersecurity, ethics, governance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✔️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Phù hợp làm giáo trình chính thức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Có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case study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learning objectives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discussion questions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Dùng được cho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Computer Science / IS / Business IT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✔️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Chuẩn mực quốc tế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→ Được dùng rộng rãi tại Mỹ, EU, châu Á cho môn MIS bậc ĐH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079896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961</TotalTime>
  <Words>603</Words>
  <Application>Microsoft Office PowerPoint</Application>
  <PresentationFormat>Widescreen</PresentationFormat>
  <Paragraphs>66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Century Schoolbook</vt:lpstr>
      <vt:lpstr>Wingdings</vt:lpstr>
      <vt:lpstr>Wingdings 2</vt:lpstr>
      <vt:lpstr>Oriel</vt:lpstr>
      <vt:lpstr>Phát triển Hệ thống thông tin quản lý (MIS-Management Information System)</vt:lpstr>
      <vt:lpstr>Nội dung</vt:lpstr>
      <vt:lpstr>Mục tiêu môn học</vt:lpstr>
      <vt:lpstr>Các nội dung chính</vt:lpstr>
      <vt:lpstr>Yêu cầu/ đánh giá</vt:lpstr>
      <vt:lpstr>Tài liệu tham khảo</vt:lpstr>
      <vt:lpstr>Management Information Systems: Managing the Digital Firm Kenneth C. Laudon &amp; Jane P. Laudon – 17th Edition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Phát triển Hệ thống thông tin quản lý (MIS-Management Information System)</dc:title>
  <dc:creator>Admin</dc:creator>
  <cp:lastModifiedBy>Nguyen Quang Hung</cp:lastModifiedBy>
  <cp:revision>27</cp:revision>
  <dcterms:created xsi:type="dcterms:W3CDTF">2022-02-09T16:17:59Z</dcterms:created>
  <dcterms:modified xsi:type="dcterms:W3CDTF">2026-01-14T01:39:20Z</dcterms:modified>
</cp:coreProperties>
</file>